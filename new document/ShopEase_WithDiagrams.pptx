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58" r:id="rId5"/>
    <p:sldId id="259" r:id="rId6"/>
    <p:sldId id="260" r:id="rId7"/>
    <p:sldId id="273" r:id="rId8"/>
    <p:sldId id="274" r:id="rId9"/>
    <p:sldId id="275" r:id="rId10"/>
    <p:sldId id="276" r:id="rId11"/>
    <p:sldId id="277" r:id="rId12"/>
    <p:sldId id="278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1" r:id="rId21"/>
    <p:sldId id="26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6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72360"/>
            <a:ext cx="2011680" cy="20116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74112"/>
            <a:ext cx="1280160" cy="1280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74112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🛍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967573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ShopEase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74320" y="1881973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Web Application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2476333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3416" y="2403815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Semester IV  |  AIT, Ahmedabad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" y="3017097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ShopEase?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7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is a full-stack, multi-role e-commerce platform built with Django (Python) and MySQL. It connects Customers, Sellers, and Admins in one seamless marketplace — with real product listings, cart management, order tracking, and discount codes.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743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Customer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Browse, search, add to cart, apply discounts, checkout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240280"/>
            <a:ext cx="2743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240280"/>
            <a:ext cx="27432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Seller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2697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products, manage inventory, track &amp; update orders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240280"/>
            <a:ext cx="27432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240280"/>
            <a:ext cx="27432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Super Admin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sellers, oversee platform, manage all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5688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Single-Role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separation of Customer, Seller &amp; Admin — security risk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Login-Required Cart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requires login — reduces conversion rates by 30%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Seller Autonomy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product management done by admin — creates bottlenecks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Discount System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coupon engine — limits promotional campaigns for sellers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Security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CSRF, plain-text passwords, raw SQL injection vulnerabilities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Non-Responsive UI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layouts break on mobile — poor UX for majority of users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5688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Seller / Admin login with session-based access control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products without login. Real-time total with GST &amp; shipping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products, track orders, update status — full autonomy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Engine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or flat codes with expiry, usage limits, min order check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update: Pending → Shipped → Delivered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Built-In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protection, SHA-256 hashing, Django ORM prevents SQL injection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78992"/>
            <a:ext cx="4114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BACKEND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8191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58191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08483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8483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848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6.0.1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MVT framework — models, views, templates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5877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58775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(shopease_db)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09067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906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mysqlclient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Django-MySQL connectivity library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59359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59359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935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5935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for product photos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4096512"/>
            <a:ext cx="4114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096512"/>
            <a:ext cx="54864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83080" y="4096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password hashing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078992"/>
            <a:ext cx="4114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789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FRONTEND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158191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58191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5819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1581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grid, components, utilities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084832"/>
            <a:ext cx="4114800" cy="438912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08483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0848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Icons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20848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library across all pages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58775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58775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258775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/ CSS3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25877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structure &amp; custom styles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090672"/>
            <a:ext cx="4114800" cy="438912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09067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09067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ES6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55080" y="3090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preview, quantity controls, UX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359359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59359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5935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Sessions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55080" y="35935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data &amp; user auth persistence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00600" y="4096512"/>
            <a:ext cx="4114800" cy="438912"/>
          </a:xfrm>
          <a:prstGeom prst="rect">
            <a:avLst/>
          </a:prstGeom>
          <a:solidFill>
            <a:srgbClr val="FFF8F0"/>
          </a:solidFill>
          <a:ln w="12700">
            <a:solidFill>
              <a:srgbClr val="FFE0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4096512"/>
            <a:ext cx="54864" cy="4389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0965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7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Templates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55080" y="40965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MVT pattern — dynamic HTML rendering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463040" cy="100584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1463040" cy="100584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9144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urls.py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(Router)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914400"/>
            <a:ext cx="1463040" cy="100584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9144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views.py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(Controller)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1463040" cy="100584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9144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models.py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(ORM)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914400"/>
            <a:ext cx="1097280" cy="1005840"/>
          </a:xfrm>
          <a:prstGeom prst="rect">
            <a:avLst/>
          </a:prstGeom>
          <a:solidFill>
            <a:srgbClr val="0A152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9144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645920" y="1417320"/>
            <a:ext cx="457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12527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457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2527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417320"/>
            <a:ext cx="457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527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417320"/>
            <a:ext cx="457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2527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286000"/>
            <a:ext cx="2743200" cy="822960"/>
          </a:xfrm>
          <a:prstGeom prst="rect">
            <a:avLst/>
          </a:prstGeom>
          <a:solidFill>
            <a:srgbClr val="1A306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286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(HTML rendered)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0" cy="36576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Apps: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20240" y="3337560"/>
            <a:ext cx="155448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accounts/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49040" y="3337560"/>
            <a:ext cx="15544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products/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77840" y="3337560"/>
            <a:ext cx="15544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orders/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3337560"/>
            <a:ext cx="1554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Structure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25196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425196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All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25196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251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/cart/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57200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572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/seller/dashboard/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2880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Panel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46120" y="457200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4572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/accounts/login/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060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572000"/>
            <a:ext cx="2834640" cy="274320"/>
          </a:xfrm>
          <a:prstGeom prst="rect">
            <a:avLst/>
          </a:prstGeom>
          <a:solidFill>
            <a:srgbClr val="0D153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572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/seller/discounts/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77240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ER Diagram — 8 Entities with All Relationships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2880" y="502920"/>
            <a:ext cx="8778240" cy="4588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Use Case Diagram — Customer, Seller, Super Admin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00">
            <a:off x="3162534" y="-1923715"/>
            <a:ext cx="2828321" cy="8990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DFD Level 0 — Context Diagram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2880" y="502920"/>
            <a:ext cx="8778240" cy="4588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DFD Level 1 — Internal Processes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2880" y="502920"/>
            <a:ext cx="8778240" cy="4588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Activity Diagram — Customer Order Flow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04456" y="509814"/>
            <a:ext cx="2736669" cy="46124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itle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wrap="square" rtlCol="0" anchor="ctr"/>
          <a:lstStyle/>
          <a:p>
            <a:pPr marL="22860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</a:rPr>
              <a:t>Sequence Diagram — Login, Cart &amp; Checkout Flow</a:t>
            </a:r>
          </a:p>
        </p:txBody>
      </p:sp>
      <p:pic>
        <p:nvPicPr>
          <p:cNvPr id="3" name="Diagram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43891" y="554940"/>
            <a:ext cx="5486400" cy="4588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07792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28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LOGIN PAGE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/accounts/login/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tabs: Customer, Seller, Admin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Login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 authentication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2377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06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before DB storage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01752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stored in Django session on login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365760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↩️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dashboard on success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42976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526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register page for new users</a:t>
            </a:r>
            <a:endParaRPr lang="en-US" sz="9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164592"/>
            <a:ext cx="5897880" cy="44348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Page — http://127.0.0.1:8000/accounts/login/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07792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28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🛍 SHOP PAGE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/products/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Filter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product name in real-time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🗂️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sidebar by product category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2377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Grid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06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with image, name, price, Add to Cart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01752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Count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total matching products found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365760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click — adds to session cart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42976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526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 grid layout</a:t>
            </a:r>
            <a:endParaRPr lang="en-US" sz="9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164592"/>
            <a:ext cx="5897880" cy="44348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Page — http://127.0.0.1:8000/products/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07792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28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🛒 CART PAGE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" y="685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/cart/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051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Items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image, name, price, quantity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173736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7373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➕➖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 Control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1965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/ Decrease / Remove buttons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237744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377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🏷️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Code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606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coupon → instant price update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01752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3017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971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Breakup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+ GST 5% + Shipping logic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365760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3657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Shipping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above ₹499, else ₹49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4297680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4297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45262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to Checkout button</a:t>
            </a:r>
            <a:endParaRPr lang="en-US" sz="95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3240" y="164592"/>
            <a:ext cx="5897880" cy="443484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63240" y="4663440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Page — http://127.0.0.1:8000/cart/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🏪 Seller Panel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1920240" cy="3840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43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" y="1554480"/>
            <a:ext cx="1801368" cy="402336"/>
          </a:xfrm>
          <a:prstGeom prst="rect">
            <a:avLst/>
          </a:prstGeom>
          <a:solidFill>
            <a:srgbClr val="1D3A6E"/>
          </a:solidFill>
          <a:ln w="12700">
            <a:solidFill>
              <a:srgbClr val="1D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544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" y="20116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0116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My Products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" y="24688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4688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Add Product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9260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 My Orders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" y="33832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3832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Discounts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38404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8404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Visit Store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4297680"/>
            <a:ext cx="1801368" cy="40233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4297680"/>
            <a:ext cx="1801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Logout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1051560"/>
            <a:ext cx="6583680" cy="384048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118872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23160" y="1188720"/>
            <a:ext cx="109728" cy="914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12618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606040" y="1664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Products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18872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188720"/>
            <a:ext cx="109728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618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54880" y="1664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118872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1188720"/>
            <a:ext cx="10972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2618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₹8,450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03720" y="1664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Earnings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64008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2240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Orders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23160" y="2578608"/>
            <a:ext cx="6400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57860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88920" y="2578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2578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2578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3160" y="2926080"/>
            <a:ext cx="6400800" cy="329184"/>
          </a:xfrm>
          <a:prstGeom prst="rect">
            <a:avLst/>
          </a:prstGeom>
          <a:solidFill>
            <a:srgbClr val="F8FA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92608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88920" y="29260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60520" y="29260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₹320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29260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23160" y="3273552"/>
            <a:ext cx="6400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327355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88920" y="32735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32735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32120" y="32735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23160" y="3703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Panel URLs: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423160" y="4005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/seller/dashboard/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23560" y="40050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/seller/products/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423160" y="4279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/seller/product/add/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23560" y="4279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/seller/product/edit/1/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423160" y="4553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/seller/orders/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623560" y="45537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/seller/discounts/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0515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accounts/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8328" y="1490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7099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9293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email (unique)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2148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password (SHA256)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3682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phone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28346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0515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1490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Seller_id</a:t>
            </a:r>
            <a:r>
              <a:rPr lang="en-US" sz="1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7099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19293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email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148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password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3682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is_approved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051560"/>
            <a:ext cx="2834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10515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products/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81928" y="1490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81928" y="17099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81928" y="19293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price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1488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stock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81928" y="236829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image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81928" y="25877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seller_id (FK)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2679" y="174232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category_id (FK)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017520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017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240280" y="30175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products/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" y="345643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</a:t>
            </a: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" y="3675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8328" y="38953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image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Shape 40"/>
          <p:cNvSpPr/>
          <p:nvPr/>
        </p:nvSpPr>
        <p:spPr>
          <a:xfrm>
            <a:off x="3200400" y="301752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3017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12080" y="30175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orders/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10128" y="345643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10128" y="3675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customer_id (FK)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10128" y="38953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product_id (FK)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10128" y="41148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quantity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10128" y="433425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total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91840" y="454456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386639" y="415407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301752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0175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DiscountCode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183880" y="30175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discounts/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81928" y="345643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</a:t>
            </a:r>
            <a:r>
              <a:rPr lang="en-US" sz="1000" b="1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Discount_id</a:t>
            </a: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(PK)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81928" y="36758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code (unique)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81928" y="38953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discount_type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81928" y="41148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discount_value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81928" y="433425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expiry_date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81928" y="455371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usage_limit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Discount Code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1417320"/>
            <a:ext cx="37947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Creates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code name, type (% or flat), value, min order, expiry, usage limit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" y="1965960"/>
            <a:ext cx="0" cy="32004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28600" y="23317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" y="2286000"/>
            <a:ext cx="37947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Applies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 code on Cart page → system validates all conditions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" y="2834640"/>
            <a:ext cx="0" cy="32004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8600" y="320040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1248" y="3154680"/>
            <a:ext cx="37947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410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Checks: Active? Not expired? Under usage limit? Cart total ≥ minimum?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" y="3703320"/>
            <a:ext cx="0" cy="32004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28600" y="406908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1248" y="4023360"/>
            <a:ext cx="3794760" cy="621792"/>
          </a:xfrm>
          <a:prstGeom prst="rect">
            <a:avLst/>
          </a:prstGeom>
          <a:solidFill>
            <a:srgbClr val="1220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279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amount stored in session → grand total recalculated instantly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914400"/>
            <a:ext cx="3886200" cy="4023360"/>
          </a:xfrm>
          <a:prstGeom prst="rect">
            <a:avLst/>
          </a:prstGeom>
          <a:solidFill>
            <a:srgbClr val="0D153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914400"/>
            <a:ext cx="3886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9144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DiscountCode Model Fields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1325880"/>
            <a:ext cx="3886200" cy="365760"/>
          </a:xfrm>
          <a:prstGeom prst="rect">
            <a:avLst/>
          </a:prstGeom>
          <a:solidFill>
            <a:srgbClr val="0D153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1325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coupon string (e.g. SAVE10)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1709928"/>
            <a:ext cx="388620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17099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discount_type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17099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 or  flat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0" y="2093976"/>
            <a:ext cx="3886200" cy="365760"/>
          </a:xfrm>
          <a:prstGeom prst="rect">
            <a:avLst/>
          </a:prstGeom>
          <a:solidFill>
            <a:srgbClr val="0D153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0939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discount_value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83680" y="209397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Amount: 10 (%) or 50 (₹)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0" y="2478024"/>
            <a:ext cx="388620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478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minimum_order_value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0" y="24780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cart total required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2862072"/>
            <a:ext cx="3886200" cy="365760"/>
          </a:xfrm>
          <a:prstGeom prst="rect">
            <a:avLst/>
          </a:prstGeom>
          <a:solidFill>
            <a:srgbClr val="0D153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2862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expiry_date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28620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Auto-invalidates after date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0" y="3246120"/>
            <a:ext cx="388620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usage_limit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3246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number of uses allowed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0" y="3630168"/>
            <a:ext cx="3886200" cy="365760"/>
          </a:xfrm>
          <a:prstGeom prst="rect">
            <a:avLst/>
          </a:prstGeom>
          <a:solidFill>
            <a:srgbClr val="0D153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630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used_count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83680" y="36301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already used (auto++)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029200" y="4014216"/>
            <a:ext cx="388620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D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014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83680" y="40142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on/off by seller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Security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5156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73152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307592"/>
            <a:ext cx="594360" cy="59436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075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61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forms use {% csrf_token %} — blocks cross-site request forgery attacks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51560"/>
            <a:ext cx="73152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307592"/>
            <a:ext cx="594360" cy="59436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075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77840" y="11612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50876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with SHA-256 before storage — never stored in plain 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37744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77440"/>
            <a:ext cx="73152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" y="2633472"/>
            <a:ext cx="594360" cy="59436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6334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Safe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ORM uses parameterized queries — SQL injection is inherently blocked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37744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377440"/>
            <a:ext cx="73152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633472"/>
            <a:ext cx="594360" cy="59436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6334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7784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8346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sessions with role-based access checks on every protected view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70332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03320"/>
            <a:ext cx="73152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959352"/>
            <a:ext cx="594360" cy="59436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3813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1605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validate required fields, file types, and data formats server-side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703320"/>
            <a:ext cx="4297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0332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959352"/>
            <a:ext cx="594360" cy="5943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577840" y="3813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41605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can't access admin routes. Customers can't access seller panel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5688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Login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+ dlib face recognition for customer login (Phase III)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integration — UPI, cards, wallets replacing COD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6783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0623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NLP-powered customer support for product recommendations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Notifications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push notifications for order status updates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Verification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OTP-based email verification and password reset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2926080"/>
            <a:ext cx="2834640" cy="1783080"/>
          </a:xfrm>
          <a:prstGeom prst="rect">
            <a:avLst/>
          </a:prstGeom>
          <a:solidFill>
            <a:srgbClr val="122040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926080"/>
            <a:ext cx="73152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55080" y="3644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402832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AWS/GCP deployment with domain, SSL certificate &amp; scaling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457200"/>
            <a:ext cx="2636968" cy="1746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C000"/>
                </a:solidFill>
              </a:rPr>
              <a:t>🛍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ShopEase — Your One-Stop E-Commerce Platform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246120"/>
            <a:ext cx="5486400" cy="91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1293</Words>
  <Application>Microsoft Office PowerPoint</Application>
  <PresentationFormat>On-screen Show (16:9)</PresentationFormat>
  <Paragraphs>353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ShopEase - E-Commerce Web Application</dc:title>
  <dc:subject>PptxGenJS Presentation</dc:subject>
  <dc:creator>ShopEase Team</dc:creator>
  <cp:lastModifiedBy>Aayush Singh</cp:lastModifiedBy>
  <cp:revision>6</cp:revision>
  <dcterms:created xsi:type="dcterms:W3CDTF">2026-02-21T06:51:07Z</dcterms:created>
  <dcterms:modified xsi:type="dcterms:W3CDTF">2026-03-07T09:09:35Z</dcterms:modified>
</cp:coreProperties>
</file>